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f6e489f-2133-4fd4-8bcf-ca4c9696015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20040"/>
            <a:ext cx="338328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85800"/>
            <a:ext cx="694944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4200" b="1">
                <a:solidFill>
                  <a:srgbClr val="F5F7FA"/>
                </a:solidFill>
              </a:defRPr>
            </a:pPr>
            <a:r>
              <a:t>MEDIVAULT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6766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19BEAA"/>
                </a:solidFill>
              </a:defRPr>
            </a:pPr>
            <a:r>
              <a:t>Patient-Owned • Cryptographically Trusted • AI-Intelligent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0280"/>
            <a:ext cx="6858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400" b="0">
                <a:solidFill>
                  <a:srgbClr val="DCE4EE"/>
                </a:solidFill>
              </a:defRPr>
            </a:pPr>
            <a:r>
              <a:t>Transforming fragmented healthcare records into a secure, consent-driven intelligence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2194560" cy="384048"/>
          </a:xfrm>
          <a:prstGeom prst="roundRect">
            <a:avLst/>
          </a:prstGeom>
          <a:solidFill>
            <a:srgbClr val="FFB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39896"/>
            <a:ext cx="219456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PATIENT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703320"/>
            <a:ext cx="2468880" cy="384048"/>
          </a:xfrm>
          <a:prstGeom prst="round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739896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ZERO-TRUST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3703320"/>
            <a:ext cx="1828800" cy="384048"/>
          </a:xfrm>
          <a:prstGeom prst="roundRect">
            <a:avLst/>
          </a:prstGeom>
          <a:solidFill>
            <a:srgbClr val="2D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739896"/>
            <a:ext cx="182880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AI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70408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</a:defRPr>
            </a:pPr>
            <a:r>
              <a:t>Your Health. Your Data. Your Consent.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715000"/>
            <a:ext cx="7315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78879B"/>
                </a:solidFill>
              </a:defRPr>
            </a:pPr>
            <a:r>
              <a:t>MathNova 2026 • Hackathon Solution Presentation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The Problem: Healthcare Data Has a Trust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Fragmented records create privacy, safety and fraud challenges.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66360" cy="16459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E6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91639"/>
            <a:ext cx="483717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E65555"/>
                </a:solidFill>
              </a:defRPr>
            </a:pPr>
            <a:r>
              <a:t>Fragmented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21408"/>
            <a:ext cx="4837176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Records are scattered across hospitals, pharmacies, labs and insurers.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6459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691639"/>
            <a:ext cx="483717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Weak Patient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121408"/>
            <a:ext cx="4837176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Patients often cannot precisely control who accesses which records and why.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11880"/>
            <a:ext cx="5166360" cy="16459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749040"/>
            <a:ext cx="483717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2D82DC"/>
                </a:solidFill>
              </a:defRPr>
            </a:pPr>
            <a:r>
              <a:t>Prescription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178808"/>
            <a:ext cx="4837176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Allergy conflicts, interactions and duplicate medicines may be missed.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611880"/>
            <a:ext cx="5166360" cy="16459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3749040"/>
            <a:ext cx="483717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Fraud &amp; Tampering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4178808"/>
            <a:ext cx="4837176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Modified prescriptions and suspicious billing/claims require stronger verification.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Core challenge: How do we enable secure health data exchange without sacrificing patient control?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Our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Move from organization-centric data control to patient-centric, verifiable consent.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2918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B828"/>
                </a:solidFill>
              </a:defRPr>
            </a:pPr>
            <a: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371600"/>
            <a:ext cx="32918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9BEAA"/>
                </a:solidFill>
              </a:defRPr>
            </a:pPr>
            <a:r>
              <a:t>WITH MEDIVAULT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291840" cy="283464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57400"/>
            <a:ext cx="296265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Fragmented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2962656" cy="2148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Hospital owns one record.</a:t>
            </a:r>
            <a:br/>
            <a:r>
              <a:t>Pharmacy sees another.</a:t>
            </a:r>
            <a:br/>
            <a:r>
              <a:t>Patient has limited visibility.</a:t>
            </a:r>
            <a:br/>
            <a:r>
              <a:t>Trust is assumed.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291840" cy="283464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057400"/>
            <a:ext cx="296265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Patient-Sovereign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87168"/>
            <a:ext cx="2962656" cy="2148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Patient controls consent.</a:t>
            </a:r>
            <a:br/>
            <a:r>
              <a:t>Every request has a purpose.</a:t>
            </a:r>
            <a:br/>
            <a:r>
              <a:t>Access is scoped + temporary.</a:t>
            </a:r>
            <a:br/>
            <a:r>
              <a:t>Every transaction is verifiable.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0" y="3337560"/>
            <a:ext cx="3474720" cy="0"/>
          </a:xfrm>
          <a:prstGeom prst="line">
            <a:avLst/>
          </a:prstGeom>
          <a:ln w="31750">
            <a:solidFill>
              <a:srgbClr val="2D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17720" y="2606040"/>
            <a:ext cx="27432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400" b="1">
                <a:solidFill>
                  <a:srgbClr val="F5F7FA"/>
                </a:solidFill>
              </a:defRPr>
            </a:pPr>
            <a:r>
              <a:t>CONTROL</a:t>
            </a:r>
            <a:br/>
            <a:r>
              <a:t>+</a:t>
            </a:r>
            <a:br/>
            <a: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400" b="1">
                <a:solidFill>
                  <a:srgbClr val="F5F7FA"/>
                </a:solidFill>
              </a:defRPr>
            </a:pPr>
            <a:r>
              <a:t>We don't just digitize records — we digitize trustworthy consent.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MediVault AI: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A secure patient-controlled health data exchange and intelligence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514600" cy="3108960"/>
          </a:xfrm>
          <a:prstGeom prst="roundRect">
            <a:avLst/>
          </a:prstGeom>
          <a:solidFill>
            <a:srgbClr val="1C283C"/>
          </a:solidFill>
          <a:ln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74519"/>
            <a:ext cx="502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800" b="1">
                <a:solidFill>
                  <a:srgbClr val="2D82DC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560320"/>
            <a:ext cx="214884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</a:defRPr>
            </a:pPr>
            <a:r>
              <a:t>Digital Health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337560"/>
            <a:ext cx="214884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Prescriptions, medications, allergies, reports and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645920"/>
            <a:ext cx="2514600" cy="3108960"/>
          </a:xfrm>
          <a:prstGeom prst="roundRect">
            <a:avLst/>
          </a:prstGeom>
          <a:solidFill>
            <a:srgbClr val="1C283C"/>
          </a:solidFill>
          <a:ln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1" y="1874519"/>
            <a:ext cx="502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800" b="1">
                <a:solidFill>
                  <a:srgbClr val="19BEA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560320"/>
            <a:ext cx="214884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</a:defRPr>
            </a:pPr>
            <a:r>
              <a:t>Consent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3337560"/>
            <a:ext cx="214884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Purpose-specific, scoped and temporary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514600" cy="3108960"/>
          </a:xfrm>
          <a:prstGeom prst="roundRect">
            <a:avLst/>
          </a:prstGeom>
          <a:solidFill>
            <a:srgbClr val="1C283C"/>
          </a:solidFill>
          <a:ln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874519"/>
            <a:ext cx="502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800" b="1">
                <a:solidFill>
                  <a:srgbClr val="FFB828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60320"/>
            <a:ext cx="214884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</a:defRPr>
            </a:pPr>
            <a:r>
              <a:t>Crypto Trust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337560"/>
            <a:ext cx="214884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Digital signatures, integrity verification and auditability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1645920"/>
            <a:ext cx="2514600" cy="3108960"/>
          </a:xfrm>
          <a:prstGeom prst="roundRect">
            <a:avLst/>
          </a:prstGeom>
          <a:solidFill>
            <a:srgbClr val="1C283C"/>
          </a:solidFill>
          <a:ln>
            <a:solidFill>
              <a:srgbClr val="E6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5751" y="1874519"/>
            <a:ext cx="502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800" b="1">
                <a:solidFill>
                  <a:srgbClr val="E65555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1" y="2560320"/>
            <a:ext cx="214884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</a:defRPr>
            </a:pPr>
            <a:r>
              <a:t>AI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1" y="3337560"/>
            <a:ext cx="214884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Prescription safety and anomaly/fraud risk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19BEAA"/>
                </a:solidFill>
              </a:defRPr>
            </a:pPr>
            <a:r>
              <a:t>One platform. Four trust layers. One patient at the center.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Designed as a modular MVP that can evolve toward enterprise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874519" cy="594360"/>
          </a:xfrm>
          <a:prstGeom prst="roundRect">
            <a:avLst/>
          </a:prstGeom>
          <a:solidFill>
            <a:srgbClr val="2D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87451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0A1426"/>
                </a:solidFill>
              </a:defRPr>
            </a:pPr>
            <a:r>
              <a:t>PATIENT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47088" y="1965960"/>
            <a:ext cx="4233672" cy="457200"/>
          </a:xfrm>
          <a:prstGeom prst="line">
            <a:avLst/>
          </a:prstGeom>
          <a:ln w="31750">
            <a:solidFill>
              <a:srgbClr val="2D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1325880"/>
            <a:ext cx="1874519" cy="594360"/>
          </a:xfrm>
          <a:prstGeom prst="round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490472"/>
            <a:ext cx="187451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0A1426"/>
                </a:solidFill>
              </a:defRPr>
            </a:pPr>
            <a:r>
              <a:t>HOSPITAL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78808" y="1965960"/>
            <a:ext cx="1901952" cy="457200"/>
          </a:xfrm>
          <a:prstGeom prst="line">
            <a:avLst/>
          </a:prstGeom>
          <a:ln w="317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1325880"/>
            <a:ext cx="1874519" cy="594360"/>
          </a:xfrm>
          <a:prstGeom prst="roundRect">
            <a:avLst/>
          </a:prstGeom>
          <a:solidFill>
            <a:srgbClr val="FFB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490472"/>
            <a:ext cx="187451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0A1426"/>
                </a:solidFill>
              </a:defRPr>
            </a:pPr>
            <a:r>
              <a:t>PHARMACY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080760" y="1965960"/>
            <a:ext cx="429767" cy="457200"/>
          </a:xfrm>
          <a:prstGeom prst="line">
            <a:avLst/>
          </a:prstGeom>
          <a:ln w="31750">
            <a:solidFill>
              <a:srgbClr val="FFB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09560" y="1325880"/>
            <a:ext cx="1874519" cy="59436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490472"/>
            <a:ext cx="187451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0A1426"/>
                </a:solidFill>
              </a:defRPr>
            </a:pPr>
            <a:r>
              <a:t>LAB / INSURER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080760" y="1965960"/>
            <a:ext cx="2761488" cy="457200"/>
          </a:xfrm>
          <a:prstGeom prst="line">
            <a:avLst/>
          </a:prstGeom>
          <a:ln w="31750">
            <a:solidFill>
              <a:srgbClr val="E6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08960" y="2423160"/>
            <a:ext cx="5943600" cy="9601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2560320"/>
            <a:ext cx="561441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MediVault API + Policy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2990088"/>
            <a:ext cx="5614416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Authentication • Access Requests • Consent • Scoped Authorization • Audit 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77639"/>
            <a:ext cx="3200400" cy="11430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14800"/>
            <a:ext cx="287121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2D82DC"/>
                </a:solidFill>
              </a:defRPr>
            </a:pPr>
            <a:r>
              <a:t>HEALTH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544568"/>
            <a:ext cx="2871216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Encrypted health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977639"/>
            <a:ext cx="3200400" cy="11430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1" y="4114800"/>
            <a:ext cx="287121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CRYPTO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1" y="4544568"/>
            <a:ext cx="2871216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Sign • Verify • Detect tampering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3977639"/>
            <a:ext cx="3200400" cy="11430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E6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7072" y="4114800"/>
            <a:ext cx="287121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E65555"/>
                </a:solidFill>
              </a:defRPr>
            </a:pPr>
            <a:r>
              <a:t>AI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4544568"/>
            <a:ext cx="2871216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Safety checks • Risk 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400" b="0">
                <a:solidFill>
                  <a:srgbClr val="DCE4EE"/>
                </a:solidFill>
              </a:defRPr>
            </a:pPr>
            <a:r>
              <a:t>Hackathon MVP: React UI → FastAPI → SQLite → Cryptography → AI Rule/Anomaly Engine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The Trust Workflow: Request → Consent →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Every data transaction answers: Who? What? Why? For how long?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2057400" cy="2971800"/>
          </a:xfrm>
          <a:prstGeom prst="roundRect">
            <a:avLst/>
          </a:prstGeom>
          <a:solidFill>
            <a:srgbClr val="1C283C"/>
          </a:solidFill>
          <a:ln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4114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FFB828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17830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78308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DCE4EE"/>
                </a:solidFill>
              </a:defRPr>
            </a:pPr>
            <a:r>
              <a:t>Hospital requests specific fields and states purpose.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3429000"/>
            <a:ext cx="210312" cy="0"/>
          </a:xfrm>
          <a:prstGeom prst="line">
            <a:avLst/>
          </a:prstGeom>
          <a:ln w="317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965960"/>
            <a:ext cx="2057400" cy="2971800"/>
          </a:xfrm>
          <a:prstGeom prst="roundRect">
            <a:avLst/>
          </a:prstGeom>
          <a:solidFill>
            <a:srgbClr val="1C283C"/>
          </a:solidFill>
          <a:ln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2148840"/>
            <a:ext cx="4114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FFB828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834640"/>
            <a:ext cx="17830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3474720"/>
            <a:ext cx="178308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DCE4EE"/>
                </a:solidFill>
              </a:defRPr>
            </a:pPr>
            <a:r>
              <a:t>Patient sees requester, purpose, fields and duration.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64608" y="3429000"/>
            <a:ext cx="210312" cy="0"/>
          </a:xfrm>
          <a:prstGeom prst="line">
            <a:avLst/>
          </a:prstGeom>
          <a:ln w="317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1965960"/>
            <a:ext cx="2057400" cy="2971800"/>
          </a:xfrm>
          <a:prstGeom prst="roundRect">
            <a:avLst/>
          </a:prstGeom>
          <a:solidFill>
            <a:srgbClr val="1C283C"/>
          </a:solidFill>
          <a:ln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148840"/>
            <a:ext cx="4114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FFB828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834640"/>
            <a:ext cx="17830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474720"/>
            <a:ext cx="178308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DCE4EE"/>
                </a:solidFill>
              </a:defRPr>
            </a:pPr>
            <a:r>
              <a:t>Patient approves and digitally signs the authorization.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96327" y="3429000"/>
            <a:ext cx="210313" cy="0"/>
          </a:xfrm>
          <a:prstGeom prst="line">
            <a:avLst/>
          </a:prstGeom>
          <a:ln w="317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52359" y="1965960"/>
            <a:ext cx="2057400" cy="2971800"/>
          </a:xfrm>
          <a:prstGeom prst="roundRect">
            <a:avLst/>
          </a:prstGeom>
          <a:solidFill>
            <a:srgbClr val="1C283C"/>
          </a:solidFill>
          <a:ln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2148840"/>
            <a:ext cx="4114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FFB828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834640"/>
            <a:ext cx="17830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3474720"/>
            <a:ext cx="178308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DCE4EE"/>
                </a:solidFill>
              </a:defRPr>
            </a:pPr>
            <a:r>
              <a:t>System validates signature, scope and expiry.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28047" y="3429000"/>
            <a:ext cx="210312" cy="0"/>
          </a:xfrm>
          <a:prstGeom prst="line">
            <a:avLst/>
          </a:prstGeom>
          <a:ln w="317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84080" y="1965960"/>
            <a:ext cx="2057400" cy="2971800"/>
          </a:xfrm>
          <a:prstGeom prst="roundRect">
            <a:avLst/>
          </a:prstGeom>
          <a:solidFill>
            <a:srgbClr val="1C283C"/>
          </a:solidFill>
          <a:ln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148840"/>
            <a:ext cx="4114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FFB828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834640"/>
            <a:ext cx="17830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474720"/>
            <a:ext cx="178308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DCE4EE"/>
                </a:solidFill>
              </a:defRPr>
            </a:pPr>
            <a:r>
              <a:t>Only authorized data is released; every event is logged.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51560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9BEAA"/>
                </a:solidFill>
              </a:defRPr>
            </a:pPr>
            <a:r>
              <a:t>Result: Minimum necessary data • Explicit consent • Time-bound access • Verifiable authorization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Cryptographic Trust Layer 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A signature proves authorization and protects data integrity.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FFB828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875520" cy="804672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1508760"/>
            <a:ext cx="95463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Authorization Payload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938528"/>
            <a:ext cx="9546336" cy="118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Patient ID • Requester • Purpose • Allowed fields • Expiry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FFB828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468880"/>
            <a:ext cx="9875520" cy="804672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2606040"/>
            <a:ext cx="95463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2D82DC"/>
                </a:solidFill>
              </a:defRPr>
            </a:pPr>
            <a:r>
              <a:t>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035808"/>
            <a:ext cx="9546336" cy="118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A fingerprint is created from the exact authorization or prescription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457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FFB828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566160"/>
            <a:ext cx="9875520" cy="804672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3703320"/>
            <a:ext cx="95463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Digital Signature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133088"/>
            <a:ext cx="9546336" cy="118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The authorized signer cryptographically signs the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59"/>
            <a:ext cx="457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FFB828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663440"/>
            <a:ext cx="9875520" cy="804672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4800600"/>
            <a:ext cx="95463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2D82DC"/>
                </a:solidFill>
              </a:defRPr>
            </a:pPr>
            <a: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5230368"/>
            <a:ext cx="9546336" cy="118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Any modification breaks verification and triggers an alert.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E65555"/>
                </a:solidFill>
              </a:defRPr>
            </a:pPr>
            <a:r>
              <a:t>Example: 500mg → 1000mg after signing → integrity verification fails → TAMPERING 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AI Clinical Intelligence — Assist, Don't Replace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Human-in-the-loop decision support for safety and risk prioritization.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246120" cy="425196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54480"/>
            <a:ext cx="29169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2D82DC"/>
                </a:solidFill>
              </a:defRPr>
            </a:pPr>
            <a:r>
              <a:t>INPUT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84248"/>
            <a:ext cx="2916936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• Documented allergies</a:t>
            </a:r>
            <a:br/>
            <a:r>
              <a:t>• Active/past medications</a:t>
            </a:r>
            <a:br/>
            <a:r>
              <a:t>• New prescription</a:t>
            </a:r>
            <a:br/>
            <a:r>
              <a:t>• Prescriber metadata</a:t>
            </a:r>
            <a:br/>
            <a:r>
              <a:t>• Billing/claims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425196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554480"/>
            <a:ext cx="29169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INTELLIGENCE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984248"/>
            <a:ext cx="2916936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Deterministic safety checks</a:t>
            </a:r>
            <a:br/>
            <a:r>
              <a:t>+</a:t>
            </a:r>
            <a:br/>
            <a:r>
              <a:t>Anomaly / risk scoring</a:t>
            </a:r>
            <a:br/>
            <a:r>
              <a:t>+</a:t>
            </a:r>
            <a:br/>
            <a:r>
              <a:t>Optional AI explanations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246120" cy="425196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554480"/>
            <a:ext cx="29169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ACTIONABLE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1984248"/>
            <a:ext cx="2916936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⚠ Allergy conflict</a:t>
            </a:r>
            <a:br/>
            <a:r>
              <a:t>⚠ Drug interaction</a:t>
            </a:r>
            <a:br/>
            <a:r>
              <a:t>⚠ Duplicate medication</a:t>
            </a:r>
            <a:br/>
            <a:r>
              <a:t>⚠ Suspicious pattern</a:t>
            </a:r>
            <a:br/>
            <a:r>
              <a:t>→ Clinical / human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566160"/>
            <a:ext cx="502920" cy="0"/>
          </a:xfrm>
          <a:prstGeom prst="line">
            <a:avLst/>
          </a:prstGeom>
          <a:ln w="317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566160"/>
            <a:ext cx="502920" cy="0"/>
          </a:xfrm>
          <a:prstGeom prst="line">
            <a:avLst/>
          </a:prstGeom>
          <a:ln w="31750">
            <a:solidFill>
              <a:srgbClr val="FFB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5897880"/>
            <a:ext cx="106070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0">
                <a:solidFill>
                  <a:srgbClr val="DCE4EE"/>
                </a:solidFill>
              </a:defRPr>
            </a:pPr>
            <a:r>
              <a:t>Safety-critical logic should rely on validated structured knowledge; AI explains and prioritizes.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Live Demo Story: A Moment That Judges Can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A complete narrative from consent to safety to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560320" cy="16002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54480"/>
            <a:ext cx="22311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2D82DC"/>
                </a:solidFill>
              </a:defRPr>
            </a:pPr>
            <a:r>
              <a:t>👤  Patient 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84248"/>
            <a:ext cx="2231136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Arun's allergy: Penicillin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560320" cy="16002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554480"/>
            <a:ext cx="22311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🏥  Access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984248"/>
            <a:ext cx="2231136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Hospital asks for allergies + medications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2560320" cy="16002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554480"/>
            <a:ext cx="22311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🔐  Patient Consent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984248"/>
            <a:ext cx="2231136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Approves only selected fields for 24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417320"/>
            <a:ext cx="2560320" cy="16002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E6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554480"/>
            <a:ext cx="22311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E65555"/>
                </a:solidFill>
              </a:defRPr>
            </a:pPr>
            <a:r>
              <a:t>👨‍⚕️  Prescription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1984248"/>
            <a:ext cx="2231136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Doctor enters a new medicine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74720"/>
            <a:ext cx="2560320" cy="16002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611879"/>
            <a:ext cx="22311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2D82DC"/>
                </a:solidFill>
              </a:defRPr>
            </a:pPr>
            <a:r>
              <a:t>🤖  Safety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041648"/>
            <a:ext cx="2231136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Possible allergy/interaction conflict detected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474720"/>
            <a:ext cx="2560320" cy="16002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3611879"/>
            <a:ext cx="22311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💊 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4041648"/>
            <a:ext cx="2231136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Pharmacy verifies signed prescription QR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74720"/>
            <a:ext cx="2560320" cy="160020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611879"/>
            <a:ext cx="22311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🚨  Tamper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4041648"/>
            <a:ext cx="2231136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Change dosage → signature verification fails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This is not a slide-only concept — the MVP demonstrates the complete trust workflow.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Fraud &amp; Anomaly Intelligence 🕵️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Risk detection is explainable — anomaly ≠ proof of fraud.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468880" cy="21031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E6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45919"/>
            <a:ext cx="213969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E65555"/>
                </a:solidFill>
              </a:defRPr>
            </a:pPr>
            <a:r>
              <a:t>Signature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75688"/>
            <a:ext cx="2139696" cy="14173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Risk contribution: +50</a:t>
            </a:r>
            <a:br/>
            <a:br/>
            <a:r>
              <a:t>Possible modification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1508760"/>
            <a:ext cx="2468880" cy="21031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645919"/>
            <a:ext cx="213969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Abnormal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075688"/>
            <a:ext cx="2139696" cy="14173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Risk contribution: +25</a:t>
            </a:r>
            <a:br/>
            <a:br/>
            <a:r>
              <a:t>Unusual prescriber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2468880" cy="21031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45919"/>
            <a:ext cx="213969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Claim Outlier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075688"/>
            <a:ext cx="2139696" cy="14173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Risk contribution: +20</a:t>
            </a:r>
            <a:br/>
            <a:br/>
            <a:r>
              <a:t>Billing outside expected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19" y="1508760"/>
            <a:ext cx="2468880" cy="21031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1" y="1645919"/>
            <a:ext cx="213969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2D82DC"/>
                </a:solidFill>
              </a:defRPr>
            </a:pPr>
            <a:r>
              <a:t>Duplicate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1" y="2075688"/>
            <a:ext cx="2139696" cy="14173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Risk contribution: +15</a:t>
            </a:r>
            <a:br/>
            <a:br/>
            <a:r>
              <a:t>Repeated suspicious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50292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9BEAA"/>
                </a:solidFill>
              </a:defRPr>
            </a:pPr>
            <a:r>
              <a:t>EXPLAINABLE RISK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502920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800" b="1">
                <a:solidFill>
                  <a:srgbClr val="F5F7FA"/>
                </a:solidFill>
              </a:defRPr>
            </a:pPr>
            <a:r>
              <a:t>95 / 100</a:t>
            </a:r>
            <a:br/>
            <a:r>
              <a:t>HIGH RISK → HUMAN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69080"/>
            <a:ext cx="4754880" cy="164592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206240"/>
            <a:ext cx="442569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Key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636008"/>
            <a:ext cx="4425696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The system flags suspicious patterns for investigation. It does not automatically accuse someone of fraud.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We Anticipated the Hard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A mature MVP knows its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789920" cy="77724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71600"/>
            <a:ext cx="104607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Is this really decentralized?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10460736" cy="914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Control is distributed through patient-controlled authorization; blockchain is optional, not mandatory.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10789920" cy="77724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104607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Where are private keys stored?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61488"/>
            <a:ext cx="10460736" cy="914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MVP is simplified; production uses secure enclaves, HSM/KMS and key rotation.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10789920" cy="77724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91840"/>
            <a:ext cx="104607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2D82DC"/>
                </a:solidFill>
              </a:defRPr>
            </a:pPr>
            <a:r>
              <a:t>What if patient is unconscious?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721608"/>
            <a:ext cx="10460736" cy="914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A governed break-glass flow can expose only critical data with full auditing.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14800"/>
            <a:ext cx="10789920" cy="77724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E6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251960"/>
            <a:ext cx="104607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E65555"/>
                </a:solidFill>
              </a:defRPr>
            </a:pPr>
            <a:r>
              <a:t>Can AI replace doctors?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681728"/>
            <a:ext cx="10460736" cy="914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No. It is clinical decision support; qualified professionals remain responsible.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74920"/>
            <a:ext cx="10789920" cy="77724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4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212080"/>
            <a:ext cx="104607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46BE78"/>
                </a:solidFill>
              </a:defRPr>
            </a:pPr>
            <a:r>
              <a:t>Is this production ready?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641848"/>
            <a:ext cx="10460736" cy="914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No. Production needs compliance, clinical validation, security hardening and interoperability.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Honest Engineering: MVP Today, Enterprise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We demonstrate the critical workflow now and a credible path forward.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074920" cy="429768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19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08760"/>
            <a:ext cx="47457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19BEAA"/>
                </a:solidFill>
              </a:defRPr>
            </a:pPr>
            <a:r>
              <a:t>HACKATHON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38528"/>
            <a:ext cx="4745736" cy="3611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• React / Web UI</a:t>
            </a:r>
            <a:br/>
            <a:r>
              <a:t>• FastAPI APIs</a:t>
            </a:r>
            <a:br/>
            <a:r>
              <a:t>• SQLite demo database</a:t>
            </a:r>
            <a:br/>
            <a:r>
              <a:t>• Digital signatures</a:t>
            </a:r>
            <a:br/>
            <a:r>
              <a:t>• Scoped temporary consent</a:t>
            </a:r>
            <a:br/>
            <a:r>
              <a:t>• QR prescription verification</a:t>
            </a:r>
            <a:br/>
            <a:r>
              <a:t>• Safety rule engine</a:t>
            </a:r>
            <a:br/>
            <a:r>
              <a:t>• Explainable risk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074920" cy="4297680"/>
          </a:xfrm>
          <a:prstGeom prst="roundRect">
            <a:avLst/>
          </a:prstGeom>
          <a:solidFill>
            <a:srgbClr val="1C283C"/>
          </a:solidFill>
          <a:ln w="19050">
            <a:solidFill>
              <a:srgbClr val="FF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08760"/>
            <a:ext cx="474573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FB828"/>
                </a:solidFill>
              </a:defRPr>
            </a:pPr>
            <a:r>
              <a:t>PRODUCTION 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38528"/>
            <a:ext cx="4745736" cy="3611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DCE4EE"/>
                </a:solidFill>
              </a:defRPr>
            </a:pPr>
            <a:r>
              <a:t>• PostgreSQL + encrypted storage</a:t>
            </a:r>
            <a:br/>
            <a:r>
              <a:t>• Enterprise IAM</a:t>
            </a:r>
            <a:br/>
            <a:r>
              <a:t>• HSM / KMS key management</a:t>
            </a:r>
            <a:br/>
            <a:r>
              <a:t>• Validated clinical data sources</a:t>
            </a:r>
            <a:br/>
            <a:r>
              <a:t>• FHIR/interoperability adapters</a:t>
            </a:r>
            <a:br/>
            <a:r>
              <a:t>• Monitoring + disaster recovery</a:t>
            </a:r>
            <a:br/>
            <a:r>
              <a:t>• Security testing + compliance</a:t>
            </a:r>
            <a:br/>
            <a:r>
              <a:t>• Clinical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0">
                <a:solidFill>
                  <a:srgbClr val="DCE4EE"/>
                </a:solidFill>
              </a:defRPr>
            </a:pPr>
            <a:r>
              <a:t>Judges: evaluate the MVP for proof of concept, architecture quality and real-world extensibility.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Why MediVault AI Should Win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E"/>
                </a:solidFill>
              </a:defRPr>
            </a:pPr>
            <a:r>
              <a:t>A complete answer to the challenge — technically credible and demo-ready.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468880" cy="384048"/>
          </a:xfrm>
          <a:prstGeom prst="roundRect">
            <a:avLst/>
          </a:prstGeom>
          <a:solidFill>
            <a:srgbClr val="2D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62456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👤  Patient Sovereignty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25880"/>
            <a:ext cx="2468880" cy="384048"/>
          </a:xfrm>
          <a:prstGeom prst="round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362456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🎯  Purpose-Based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2468880" cy="384048"/>
          </a:xfrm>
          <a:prstGeom prst="roundRect">
            <a:avLst/>
          </a:prstGeom>
          <a:solidFill>
            <a:srgbClr val="FFB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62456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⏳  Temporary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325880"/>
            <a:ext cx="2468880" cy="384048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362456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🔐  Cryptographic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51760"/>
            <a:ext cx="2468880" cy="384048"/>
          </a:xfrm>
          <a:prstGeom prst="roundRect">
            <a:avLst/>
          </a:prstGeom>
          <a:solidFill>
            <a:srgbClr val="46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88336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🤖  AI Safety 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651760"/>
            <a:ext cx="2468880" cy="384048"/>
          </a:xfrm>
          <a:prstGeom prst="roundRect">
            <a:avLst/>
          </a:prstGeom>
          <a:solidFill>
            <a:srgbClr val="2D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688336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🕵️  Explainable Fraud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651760"/>
            <a:ext cx="2468880" cy="384048"/>
          </a:xfrm>
          <a:prstGeom prst="round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688336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📜  Auditable Transactions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651760"/>
            <a:ext cx="2468880" cy="384048"/>
          </a:xfrm>
          <a:prstGeom prst="roundRect">
            <a:avLst/>
          </a:prstGeom>
          <a:solidFill>
            <a:srgbClr val="FFB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688336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🏥  Healthcare-Ready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600" b="1">
                <a:solidFill>
                  <a:srgbClr val="F5F7FA"/>
                </a:solidFill>
              </a:defRPr>
            </a:pPr>
            <a:r>
              <a:t>“We are not just digitizing medical records.</a:t>
            </a:r>
            <a:br/>
            <a:r>
              <a:t>We are building a trust layer for healthcare data exchange.”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9BEAA"/>
                </a:solidFill>
              </a:defRPr>
            </a:pPr>
            <a:r>
              <a:t>MEDIVAULT AI — Your Health. Your Data. Your Consent.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4200" b="1">
                <a:solidFill>
                  <a:srgbClr val="F5F7F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400" b="1">
                <a:solidFill>
                  <a:srgbClr val="19BEAA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971800"/>
            <a:ext cx="905256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800" b="1">
                <a:solidFill>
                  <a:srgbClr val="FFB828"/>
                </a:solidFill>
              </a:defRPr>
            </a:pPr>
            <a:r>
              <a:t>MEDIVAULT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931920"/>
            <a:ext cx="905256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900" b="0">
                <a:solidFill>
                  <a:srgbClr val="DCE4EE"/>
                </a:solidFill>
              </a:defRPr>
            </a:pPr>
            <a:r>
              <a:t>Patient-Owned • Cryptographically Trusted • AI-Intelligent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074920"/>
            <a:ext cx="3383280" cy="384048"/>
          </a:xfrm>
          <a:prstGeom prst="round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5111496"/>
            <a:ext cx="33832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0A1426"/>
                </a:solidFill>
              </a:defRPr>
            </a:pPr>
            <a:r>
              <a:t>BUILDING TRUST IN HEALTHCARE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79B"/>
                </a:solidFill>
              </a:defRPr>
            </a:pPr>
            <a:r>
              <a:t>MediVault AI | MathNova 2026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