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6400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DD3FF"/>
                </a:solidFill>
                <a:latin typeface="Aptos"/>
              </a:rPr>
              <a:t>SIMATS MATHNOVA 2026 • ONE DAY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1078992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4600" b="1">
                <a:solidFill>
                  <a:srgbClr val="F5F8FC"/>
                </a:solidFill>
                <a:latin typeface="Aptos"/>
              </a:rPr>
              <a:t>MEDISOVEREIGN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9875520" cy="11430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0">
                <a:solidFill>
                  <a:srgbClr val="ABB8CA"/>
                </a:solidFill>
                <a:latin typeface="Aptos"/>
              </a:rPr>
              <a:t>Patient-owned healthcare data exchange,
secured by cryptographic consent and AI safety.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794760"/>
            <a:ext cx="10789920" cy="1234440"/>
          </a:xfrm>
          <a:prstGeom prst="roundRect">
            <a:avLst/>
          </a:prstGeom>
          <a:solidFill>
            <a:srgbClr val="121B2A"/>
          </a:solidFill>
          <a:ln>
            <a:solidFill>
              <a:srgbClr val="12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096512"/>
            <a:ext cx="3200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1">
                <a:solidFill>
                  <a:srgbClr val="F5F8FC"/>
                </a:solidFill>
                <a:latin typeface="Aptos"/>
              </a:rPr>
              <a:t>YOUR MEDICAL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4096512"/>
            <a:ext cx="3200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1">
                <a:solidFill>
                  <a:srgbClr val="2DD3FF"/>
                </a:solidFill>
                <a:latin typeface="Aptos"/>
              </a:rPr>
              <a:t>YOUR PERMISSION.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4096512"/>
            <a:ext cx="3200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1">
                <a:solidFill>
                  <a:srgbClr val="2FD38B"/>
                </a:solidFill>
                <a:latin typeface="Aptos"/>
              </a:rPr>
              <a:t>YOUR SIGNATURE.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715000"/>
            <a:ext cx="105156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A patient-sovereign, signature-verified prescription intelligence network.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ABB8CA"/>
                </a:solidFill>
                <a:latin typeface="Aptos"/>
              </a:rPr>
              <a:t>MATHNOVA 2026  •  MEDISOVEREIGN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55664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ABB8CA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DD3FF"/>
                </a:solidFill>
                <a:latin typeface="Aptos"/>
              </a:rPr>
              <a:t>01 •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Healthcare data is fragmented — and control is fragmented too.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ABB8CA"/>
                </a:solidFill>
                <a:latin typeface="Aptos"/>
              </a:rPr>
              <a:t>Patients interact with many organizations, but their medical history is scattered across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2514600" cy="1965960"/>
          </a:xfrm>
          <a:prstGeom prst="roundRect">
            <a:avLst/>
          </a:prstGeom>
          <a:solidFill>
            <a:srgbClr val="121B2A"/>
          </a:solidFill>
          <a:ln>
            <a:solidFill>
              <a:srgbClr val="12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67712"/>
            <a:ext cx="5029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0">
                <a:solidFill>
                  <a:srgbClr val="F5F8FC"/>
                </a:solidFill>
                <a:latin typeface="Aptos"/>
              </a:rPr>
              <a:t>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67712"/>
            <a:ext cx="1645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Hospitals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926080"/>
            <a:ext cx="210312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ABB8CA"/>
                </a:solidFill>
                <a:latin typeface="Aptos"/>
              </a:rPr>
              <a:t>Treatment records,
medications, history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057400"/>
            <a:ext cx="2514600" cy="1965960"/>
          </a:xfrm>
          <a:prstGeom prst="roundRect">
            <a:avLst/>
          </a:prstGeom>
          <a:solidFill>
            <a:srgbClr val="121B2A"/>
          </a:solidFill>
          <a:ln>
            <a:solidFill>
              <a:srgbClr val="12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267712"/>
            <a:ext cx="5029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0">
                <a:solidFill>
                  <a:srgbClr val="F5F8FC"/>
                </a:solidFill>
                <a:latin typeface="Aptos"/>
              </a:rPr>
              <a:t>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267712"/>
            <a:ext cx="1645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Pharmacies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926080"/>
            <a:ext cx="210312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ABB8CA"/>
                </a:solidFill>
                <a:latin typeface="Aptos"/>
              </a:rPr>
              <a:t>Prescriptions,
refills, dispensing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057400"/>
            <a:ext cx="2514600" cy="1965960"/>
          </a:xfrm>
          <a:prstGeom prst="roundRect">
            <a:avLst/>
          </a:prstGeom>
          <a:solidFill>
            <a:srgbClr val="121B2A"/>
          </a:solidFill>
          <a:ln>
            <a:solidFill>
              <a:srgbClr val="12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267712"/>
            <a:ext cx="5029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0">
                <a:solidFill>
                  <a:srgbClr val="F5F8FC"/>
                </a:solidFill>
                <a:latin typeface="Aptos"/>
              </a:rPr>
              <a:t>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67712"/>
            <a:ext cx="1645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Diagnostic Labs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926080"/>
            <a:ext cx="210312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ABB8CA"/>
                </a:solidFill>
                <a:latin typeface="Aptos"/>
              </a:rPr>
              <a:t>Reports,
results, test history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057400"/>
            <a:ext cx="2514600" cy="1965960"/>
          </a:xfrm>
          <a:prstGeom prst="roundRect">
            <a:avLst/>
          </a:prstGeom>
          <a:solidFill>
            <a:srgbClr val="121B2A"/>
          </a:solidFill>
          <a:ln>
            <a:solidFill>
              <a:srgbClr val="12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2267712"/>
            <a:ext cx="5029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0">
                <a:solidFill>
                  <a:srgbClr val="F5F8FC"/>
                </a:solidFill>
                <a:latin typeface="Aptos"/>
              </a:rPr>
              <a:t>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2267712"/>
            <a:ext cx="1645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Insurers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2926080"/>
            <a:ext cx="210312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ABB8CA"/>
                </a:solidFill>
                <a:latin typeface="Aptos"/>
              </a:rPr>
              <a:t>Claims,
billing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617720"/>
            <a:ext cx="12801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F5C5C"/>
                </a:solidFill>
                <a:latin typeface="Aptos"/>
              </a:rPr>
              <a:t>THE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983480"/>
            <a:ext cx="1060704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F5F8FC"/>
                </a:solidFill>
                <a:latin typeface="Aptos"/>
              </a:rPr>
              <a:t>Who decides what gets shared, with whom, for what purpose, and for how long?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ABB8CA"/>
                </a:solidFill>
                <a:latin typeface="Aptos"/>
              </a:rPr>
              <a:t>MATHNOVA 2026  •  MEDISOVEREIGN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55664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ABB8CA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DD3FF"/>
                </a:solidFill>
                <a:latin typeface="Aptos"/>
              </a:rPr>
              <a:t>02 •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One patient. One secure health vault. Complete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ABB8CA"/>
                </a:solidFill>
                <a:latin typeface="Aptos"/>
              </a:rPr>
              <a:t>MediSovereign makes the patient the decision-maker for every data exchange.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828800"/>
            <a:ext cx="3337560" cy="1920240"/>
          </a:xfrm>
          <a:prstGeom prst="roundRect">
            <a:avLst/>
          </a:prstGeom>
          <a:solidFill>
            <a:srgbClr val="172336"/>
          </a:solidFill>
          <a:ln>
            <a:solidFill>
              <a:srgbClr val="17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715000" y="2084831"/>
            <a:ext cx="731520" cy="731520"/>
          </a:xfrm>
          <a:prstGeom prst="ellipse">
            <a:avLst/>
          </a:prstGeom>
          <a:solidFill>
            <a:srgbClr val="2DD3FF"/>
          </a:solidFill>
          <a:ln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0" y="2157984"/>
            <a:ext cx="7315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400" b="1">
                <a:solidFill>
                  <a:srgbClr val="090E18"/>
                </a:solidFill>
                <a:latin typeface="Aptos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944368"/>
            <a:ext cx="269748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100" b="1">
                <a:solidFill>
                  <a:srgbClr val="F5F8FC"/>
                </a:solidFill>
                <a:latin typeface="Aptos"/>
              </a:rPr>
              <a:t>PATIENT
OWNER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2240280" cy="1143000"/>
          </a:xfrm>
          <a:prstGeom prst="roundRect">
            <a:avLst/>
          </a:prstGeom>
          <a:solidFill>
            <a:srgbClr val="121B2A"/>
          </a:solidFill>
          <a:ln>
            <a:solidFill>
              <a:srgbClr val="12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1" y="2231136"/>
            <a:ext cx="384048" cy="384048"/>
          </a:xfrm>
          <a:prstGeom prst="ellipse">
            <a:avLst/>
          </a:prstGeom>
          <a:solidFill>
            <a:srgbClr val="476FFF"/>
          </a:solidFill>
          <a:ln>
            <a:solidFill>
              <a:srgbClr val="47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267712"/>
            <a:ext cx="13258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Hospital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670048"/>
            <a:ext cx="19202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ABB8CA"/>
                </a:solidFill>
                <a:latin typeface="Aptos"/>
              </a:rPr>
              <a:t>Request → Consent →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77639"/>
            <a:ext cx="2240280" cy="1143000"/>
          </a:xfrm>
          <a:prstGeom prst="roundRect">
            <a:avLst/>
          </a:prstGeom>
          <a:solidFill>
            <a:srgbClr val="121B2A"/>
          </a:solidFill>
          <a:ln>
            <a:solidFill>
              <a:srgbClr val="12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1" y="4288536"/>
            <a:ext cx="384048" cy="384048"/>
          </a:xfrm>
          <a:prstGeom prst="ellipse">
            <a:avLst/>
          </a:prstGeom>
          <a:solidFill>
            <a:srgbClr val="2FD38B"/>
          </a:solidFill>
          <a:ln>
            <a:solidFill>
              <a:srgbClr val="2F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325112"/>
            <a:ext cx="13258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Pharmacy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727448"/>
            <a:ext cx="19202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ABB8CA"/>
                </a:solidFill>
                <a:latin typeface="Aptos"/>
              </a:rPr>
              <a:t>Request → Consent → 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20240"/>
            <a:ext cx="2240280" cy="1143000"/>
          </a:xfrm>
          <a:prstGeom prst="roundRect">
            <a:avLst/>
          </a:prstGeom>
          <a:solidFill>
            <a:srgbClr val="121B2A"/>
          </a:solidFill>
          <a:ln>
            <a:solidFill>
              <a:srgbClr val="12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62872" y="2231136"/>
            <a:ext cx="384048" cy="384048"/>
          </a:xfrm>
          <a:prstGeom prst="ellipse">
            <a:avLst/>
          </a:prstGeom>
          <a:solidFill>
            <a:srgbClr val="FFC434"/>
          </a:solidFill>
          <a:ln>
            <a:solidFill>
              <a:srgbClr val="FFC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2267712"/>
            <a:ext cx="13258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Diagnostic 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2670048"/>
            <a:ext cx="19202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ABB8CA"/>
                </a:solidFill>
                <a:latin typeface="Aptos"/>
              </a:rPr>
              <a:t>Request → Consent → Access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3977639"/>
            <a:ext cx="2240280" cy="1143000"/>
          </a:xfrm>
          <a:prstGeom prst="roundRect">
            <a:avLst/>
          </a:prstGeom>
          <a:solidFill>
            <a:srgbClr val="121B2A"/>
          </a:solidFill>
          <a:ln>
            <a:solidFill>
              <a:srgbClr val="12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872" y="4288536"/>
            <a:ext cx="384048" cy="384048"/>
          </a:xfrm>
          <a:prstGeom prst="ellipse">
            <a:avLst/>
          </a:prstGeom>
          <a:solidFill>
            <a:srgbClr val="2DD3FF"/>
          </a:solidFill>
          <a:ln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4325112"/>
            <a:ext cx="13258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Insurance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4727448"/>
            <a:ext cx="19202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ABB8CA"/>
                </a:solidFill>
                <a:latin typeface="Aptos"/>
              </a:rPr>
              <a:t>Request → Consent → Access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880360" y="2487168"/>
            <a:ext cx="1554480" cy="0"/>
          </a:xfrm>
          <a:prstGeom prst="line">
            <a:avLst/>
          </a:prstGeom>
          <a:ln w="25400">
            <a:solidFill>
              <a:srgbClr val="2D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880360" y="3063240"/>
            <a:ext cx="1554480" cy="1481328"/>
          </a:xfrm>
          <a:prstGeom prst="line">
            <a:avLst/>
          </a:prstGeom>
          <a:ln w="25400">
            <a:solidFill>
              <a:srgbClr val="2D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772400" y="2487168"/>
            <a:ext cx="1325880" cy="0"/>
          </a:xfrm>
          <a:prstGeom prst="line">
            <a:avLst/>
          </a:prstGeom>
          <a:ln w="25400">
            <a:solidFill>
              <a:srgbClr val="2D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772400" y="3063240"/>
            <a:ext cx="1325880" cy="1481328"/>
          </a:xfrm>
          <a:prstGeom prst="line">
            <a:avLst/>
          </a:prstGeom>
          <a:ln w="25400">
            <a:solidFill>
              <a:srgbClr val="2D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828800" y="5257800"/>
            <a:ext cx="8503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400" b="1">
                <a:solidFill>
                  <a:srgbClr val="2FD38B"/>
                </a:solidFill>
                <a:latin typeface="Aptos"/>
              </a:rPr>
              <a:t>No valid patient authorization → no access.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ABB8CA"/>
                </a:solidFill>
                <a:latin typeface="Aptos"/>
              </a:rPr>
              <a:t>MATHNOVA 2026  •  MEDISOVEREIGN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55664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ABB8CA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DD3FF"/>
                </a:solidFill>
                <a:latin typeface="Aptos"/>
              </a:rPr>
              <a:t>03 • CORE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Cryptographic consent replaces blind trust.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ABB8CA"/>
                </a:solidFill>
                <a:latin typeface="Aptos"/>
              </a:rPr>
              <a:t>Every sensitive data transaction is bound to a patient-signed authorization.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1874519"/>
            <a:ext cx="594360" cy="594360"/>
          </a:xfrm>
          <a:prstGeom prst="ellipse">
            <a:avLst/>
          </a:prstGeom>
          <a:solidFill>
            <a:srgbClr val="2DD3FF"/>
          </a:solidFill>
          <a:ln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75104"/>
            <a:ext cx="5943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090E18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97480"/>
            <a:ext cx="1965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82112"/>
            <a:ext cx="1965960" cy="7772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>
                <a:solidFill>
                  <a:srgbClr val="ABB8CA"/>
                </a:solidFill>
                <a:latin typeface="Aptos"/>
              </a:rPr>
              <a:t>Hospital asks for
specific fields +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6312" y="2011680"/>
            <a:ext cx="320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ABB8CA"/>
                </a:solidFill>
                <a:latin typeface="Aptos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3520439" y="1874519"/>
            <a:ext cx="594360" cy="594360"/>
          </a:xfrm>
          <a:prstGeom prst="ellipse">
            <a:avLst/>
          </a:prstGeom>
          <a:solidFill>
            <a:srgbClr val="2DD3FF"/>
          </a:solidFill>
          <a:ln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39" y="1975104"/>
            <a:ext cx="5943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090E18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39" y="2697480"/>
            <a:ext cx="1965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3182112"/>
            <a:ext cx="1965960" cy="7772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>
                <a:solidFill>
                  <a:srgbClr val="ABB8CA"/>
                </a:solidFill>
                <a:latin typeface="Aptos"/>
              </a:rPr>
              <a:t>Patient chooses exactly
what can be shared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1" y="2011680"/>
            <a:ext cx="320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ABB8CA"/>
                </a:solidFill>
                <a:latin typeface="Aptos"/>
              </a:rP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5852159" y="1874519"/>
            <a:ext cx="594360" cy="594360"/>
          </a:xfrm>
          <a:prstGeom prst="ellipse">
            <a:avLst/>
          </a:prstGeom>
          <a:solidFill>
            <a:srgbClr val="2DD3FF"/>
          </a:solidFill>
          <a:ln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59" y="1975104"/>
            <a:ext cx="5943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090E18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59" y="2697480"/>
            <a:ext cx="1965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59" y="3182112"/>
            <a:ext cx="1965960" cy="7772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>
                <a:solidFill>
                  <a:srgbClr val="ABB8CA"/>
                </a:solidFill>
                <a:latin typeface="Aptos"/>
              </a:rPr>
              <a:t>Patient signs the grant
with a private 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9752" y="2011680"/>
            <a:ext cx="320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ABB8CA"/>
                </a:solidFill>
                <a:latin typeface="Aptos"/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8183879" y="1874519"/>
            <a:ext cx="594360" cy="594360"/>
          </a:xfrm>
          <a:prstGeom prst="ellipse">
            <a:avLst/>
          </a:prstGeom>
          <a:solidFill>
            <a:srgbClr val="2DD3FF"/>
          </a:solidFill>
          <a:ln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1975104"/>
            <a:ext cx="5943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090E18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697480"/>
            <a:ext cx="1965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182112"/>
            <a:ext cx="1965960" cy="7772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>
                <a:solidFill>
                  <a:srgbClr val="ABB8CA"/>
                </a:solidFill>
                <a:latin typeface="Aptos"/>
              </a:rPr>
              <a:t>Backend verifies signature,
scope and expiry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1472" y="2011680"/>
            <a:ext cx="320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ABB8CA"/>
                </a:solidFill>
                <a:latin typeface="Aptos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10515600" y="1874519"/>
            <a:ext cx="594360" cy="594360"/>
          </a:xfrm>
          <a:prstGeom prst="ellipse">
            <a:avLst/>
          </a:prstGeom>
          <a:solidFill>
            <a:srgbClr val="2FD38B"/>
          </a:solidFill>
          <a:ln>
            <a:solidFill>
              <a:srgbClr val="2F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0" y="1975104"/>
            <a:ext cx="5943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090E18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697480"/>
            <a:ext cx="1965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RELEASE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182112"/>
            <a:ext cx="1965960" cy="7772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>
                <a:solidFill>
                  <a:srgbClr val="ABB8CA"/>
                </a:solidFill>
                <a:latin typeface="Aptos"/>
              </a:rPr>
              <a:t>Only authorized data is
returned for a limited 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4800600"/>
            <a:ext cx="9966960" cy="777240"/>
          </a:xfrm>
          <a:prstGeom prst="roundRect">
            <a:avLst/>
          </a:prstGeom>
          <a:solidFill>
            <a:srgbClr val="121B2A"/>
          </a:solidFill>
          <a:ln>
            <a:solidFill>
              <a:srgbClr val="12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25880" y="5020056"/>
            <a:ext cx="95097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2DD3FF"/>
                </a:solidFill>
                <a:latin typeface="Aptos"/>
              </a:rPr>
              <a:t>ECDSA / SHA-256  •  AES-GCM encryption  •  Time-limited, field-level 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ABB8CA"/>
                </a:solidFill>
                <a:latin typeface="Aptos"/>
              </a:rPr>
              <a:t>MATHNOVA 2026  •  MEDISOVEREIGN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55664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ABB8CA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DD3FF"/>
                </a:solidFill>
                <a:latin typeface="Aptos"/>
              </a:rPr>
              <a:t>04 • AI CLINICAL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Prescription safety before harm happens.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ABB8CA"/>
                </a:solidFill>
                <a:latin typeface="Aptos"/>
              </a:rPr>
              <a:t>The system compares a new prescription with patient-specific context and flags risk for clinician review.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880360" cy="3200400"/>
          </a:xfrm>
          <a:prstGeom prst="roundRect">
            <a:avLst/>
          </a:prstGeom>
          <a:solidFill>
            <a:srgbClr val="121B2A"/>
          </a:solidFill>
          <a:ln>
            <a:solidFill>
              <a:srgbClr val="12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76272"/>
            <a:ext cx="2286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2DD3FF"/>
                </a:solidFill>
                <a:latin typeface="Aptos"/>
              </a:rPr>
              <a:t>NEW PRESCRIPTION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2286000" cy="7772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F5F8FC"/>
                </a:solidFill>
                <a:latin typeface="Aptos"/>
              </a:rPr>
              <a:t>Amoxicillin
500 mg • 3/day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86200"/>
            <a:ext cx="228600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ABB8CA"/>
                </a:solidFill>
                <a:latin typeface="Aptos"/>
              </a:rPr>
              <a:t>Prescriber: Dr. Kumar
Patient: P001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880360"/>
            <a:ext cx="7315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3200" b="1">
                <a:solidFill>
                  <a:srgbClr val="2DD3FF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2880360" cy="3200400"/>
          </a:xfrm>
          <a:prstGeom prst="roundRect">
            <a:avLst/>
          </a:prstGeom>
          <a:solidFill>
            <a:srgbClr val="121B2A"/>
          </a:solidFill>
          <a:ln>
            <a:solidFill>
              <a:srgbClr val="12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176272"/>
            <a:ext cx="2286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2FD38B"/>
                </a:solidFill>
                <a:latin typeface="Aptos"/>
              </a:rPr>
              <a:t>PATIENT CONTEXT</a:t>
            </a:r>
          </a:p>
        </p:txBody>
      </p:sp>
      <p:sp>
        <p:nvSpPr>
          <p:cNvPr id="12" name="Oval 11"/>
          <p:cNvSpPr/>
          <p:nvPr/>
        </p:nvSpPr>
        <p:spPr>
          <a:xfrm>
            <a:off x="4709160" y="2825496"/>
            <a:ext cx="109728" cy="109728"/>
          </a:xfrm>
          <a:prstGeom prst="ellipse">
            <a:avLst/>
          </a:prstGeom>
          <a:solidFill>
            <a:srgbClr val="FF5C5C"/>
          </a:solidFill>
          <a:ln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743200"/>
            <a:ext cx="205740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Penicillin allergy</a:t>
            </a:r>
          </a:p>
        </p:txBody>
      </p:sp>
      <p:sp>
        <p:nvSpPr>
          <p:cNvPr id="14" name="Oval 13"/>
          <p:cNvSpPr/>
          <p:nvPr/>
        </p:nvSpPr>
        <p:spPr>
          <a:xfrm>
            <a:off x="4709160" y="3392424"/>
            <a:ext cx="109728" cy="109728"/>
          </a:xfrm>
          <a:prstGeom prst="ellipse">
            <a:avLst/>
          </a:prstGeom>
          <a:solidFill>
            <a:srgbClr val="2DD3FF"/>
          </a:solidFill>
          <a:ln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3310128"/>
            <a:ext cx="205740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Current medications</a:t>
            </a:r>
          </a:p>
        </p:txBody>
      </p:sp>
      <p:sp>
        <p:nvSpPr>
          <p:cNvPr id="16" name="Oval 15"/>
          <p:cNvSpPr/>
          <p:nvPr/>
        </p:nvSpPr>
        <p:spPr>
          <a:xfrm>
            <a:off x="4709160" y="3959352"/>
            <a:ext cx="109728" cy="109728"/>
          </a:xfrm>
          <a:prstGeom prst="ellipse">
            <a:avLst/>
          </a:prstGeom>
          <a:solidFill>
            <a:srgbClr val="FFC434"/>
          </a:solidFill>
          <a:ln>
            <a:solidFill>
              <a:srgbClr val="FFC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3877056"/>
            <a:ext cx="205740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Past prescriptions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880360"/>
            <a:ext cx="7315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3200" b="1">
                <a:solidFill>
                  <a:srgbClr val="2DD3FF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1874519"/>
            <a:ext cx="3246120" cy="3200400"/>
          </a:xfrm>
          <a:prstGeom prst="roundRect">
            <a:avLst/>
          </a:prstGeom>
          <a:solidFill>
            <a:srgbClr val="172336"/>
          </a:solidFill>
          <a:ln>
            <a:solidFill>
              <a:srgbClr val="17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2176272"/>
            <a:ext cx="26517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5C5C"/>
                </a:solidFill>
                <a:latin typeface="Aptos"/>
              </a:rPr>
              <a:t>⚠ HIGH-RISK ALERT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743200"/>
            <a:ext cx="246888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F5F8FC"/>
                </a:solidFill>
                <a:latin typeface="Aptos"/>
              </a:rPr>
              <a:t>Potential allergy
conflict detected.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886200"/>
            <a:ext cx="260604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ABB8CA"/>
                </a:solidFill>
                <a:latin typeface="Aptos"/>
              </a:rPr>
              <a:t>Clinical review required.
The system assists — it does not prescribe.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ABB8CA"/>
                </a:solidFill>
                <a:latin typeface="Aptos"/>
              </a:rPr>
              <a:t>MATHNOVA 2026  •  MEDISOVEREIGN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55664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ABB8CA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DD3FF"/>
                </a:solidFill>
                <a:latin typeface="Aptos"/>
              </a:rPr>
              <a:t>05 • FRAUD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Prescription and claims anomalies become visible.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ABB8CA"/>
                </a:solidFill>
                <a:latin typeface="Aptos"/>
              </a:rPr>
              <a:t>A risk engine combines prescription, practitioner and billing signals to identify suspicious patterns.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400800" cy="749808"/>
          </a:xfrm>
          <a:prstGeom prst="roundRect">
            <a:avLst/>
          </a:prstGeom>
          <a:solidFill>
            <a:srgbClr val="121B2A"/>
          </a:solidFill>
          <a:ln>
            <a:solidFill>
              <a:srgbClr val="12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011680"/>
            <a:ext cx="347472" cy="347472"/>
          </a:xfrm>
          <a:prstGeom prst="ellipse">
            <a:avLst/>
          </a:prstGeom>
          <a:solidFill>
            <a:srgbClr val="FF5C5C"/>
          </a:solidFill>
          <a:ln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965960"/>
            <a:ext cx="2743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Dosage / quantity anomaly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965960"/>
            <a:ext cx="29260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BB8CA"/>
                </a:solidFill>
                <a:latin typeface="Aptos"/>
              </a:rPr>
              <a:t>Unusual amount compared with normal pattern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88920"/>
            <a:ext cx="6400800" cy="749808"/>
          </a:xfrm>
          <a:prstGeom prst="roundRect">
            <a:avLst/>
          </a:prstGeom>
          <a:solidFill>
            <a:srgbClr val="121B2A"/>
          </a:solidFill>
          <a:ln>
            <a:solidFill>
              <a:srgbClr val="12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2971800"/>
            <a:ext cx="347472" cy="347472"/>
          </a:xfrm>
          <a:prstGeom prst="ellipse">
            <a:avLst/>
          </a:prstGeom>
          <a:solidFill>
            <a:srgbClr val="FFC434"/>
          </a:solidFill>
          <a:ln>
            <a:solidFill>
              <a:srgbClr val="FFC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926079"/>
            <a:ext cx="2743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Repeated prescriptions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926079"/>
            <a:ext cx="29260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BB8CA"/>
                </a:solidFill>
                <a:latin typeface="Aptos"/>
              </a:rPr>
              <a:t>Same drug or therapy repeated unusually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39"/>
            <a:ext cx="6400800" cy="749808"/>
          </a:xfrm>
          <a:prstGeom prst="roundRect">
            <a:avLst/>
          </a:prstGeom>
          <a:solidFill>
            <a:srgbClr val="121B2A"/>
          </a:solidFill>
          <a:ln>
            <a:solidFill>
              <a:srgbClr val="12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3931920"/>
            <a:ext cx="347472" cy="347472"/>
          </a:xfrm>
          <a:prstGeom prst="ellipse">
            <a:avLst/>
          </a:prstGeom>
          <a:solidFill>
            <a:srgbClr val="2DD3FF"/>
          </a:solidFill>
          <a:ln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886200"/>
            <a:ext cx="2743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Rapid refills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886200"/>
            <a:ext cx="29260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BB8CA"/>
                </a:solidFill>
                <a:latin typeface="Aptos"/>
              </a:rPr>
              <a:t>Refill frequency inconsistent with history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09160"/>
            <a:ext cx="6400800" cy="749808"/>
          </a:xfrm>
          <a:prstGeom prst="roundRect">
            <a:avLst/>
          </a:prstGeom>
          <a:solidFill>
            <a:srgbClr val="121B2A"/>
          </a:solidFill>
          <a:ln>
            <a:solidFill>
              <a:srgbClr val="12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4892040"/>
            <a:ext cx="347472" cy="347472"/>
          </a:xfrm>
          <a:prstGeom prst="ellipse">
            <a:avLst/>
          </a:prstGeom>
          <a:solidFill>
            <a:srgbClr val="2FD38B"/>
          </a:solidFill>
          <a:ln>
            <a:solidFill>
              <a:srgbClr val="2F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4846320"/>
            <a:ext cx="27432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Claims anomaly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846320"/>
            <a:ext cx="29260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BB8CA"/>
                </a:solidFill>
                <a:latin typeface="Aptos"/>
              </a:rPr>
              <a:t>Billing amount or pattern looks unusual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828800"/>
            <a:ext cx="4069080" cy="3657600"/>
          </a:xfrm>
          <a:prstGeom prst="roundRect">
            <a:avLst/>
          </a:prstGeom>
          <a:solidFill>
            <a:srgbClr val="172336"/>
          </a:solidFill>
          <a:ln>
            <a:solidFill>
              <a:srgbClr val="17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2212848"/>
            <a:ext cx="32918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2DD3FF"/>
                </a:solidFill>
                <a:latin typeface="Aptos"/>
              </a:rPr>
              <a:t>PRESCRIPTION RISK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2743200"/>
            <a:ext cx="3291840" cy="7772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 b="1">
                <a:solidFill>
                  <a:srgbClr val="FF5C5C"/>
                </a:solidFill>
                <a:latin typeface="Aptos"/>
              </a:rPr>
              <a:t>87%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60" y="3703320"/>
            <a:ext cx="3154680" cy="256032"/>
          </a:xfrm>
          <a:prstGeom prst="roundRect">
            <a:avLst/>
          </a:prstGeom>
          <a:solidFill>
            <a:srgbClr val="090E18"/>
          </a:solidFill>
          <a:ln>
            <a:solidFill>
              <a:srgbClr val="090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09560" y="3703320"/>
            <a:ext cx="2697480" cy="256032"/>
          </a:xfrm>
          <a:prstGeom prst="roundRect">
            <a:avLst/>
          </a:prstGeom>
          <a:solidFill>
            <a:srgbClr val="FF5C5C"/>
          </a:solidFill>
          <a:ln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4160520"/>
            <a:ext cx="32918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FF5C5C"/>
                </a:solidFill>
                <a:latin typeface="Aptos"/>
              </a:rPr>
              <a:t>HIGH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709160"/>
            <a:ext cx="33832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>
                <a:solidFill>
                  <a:srgbClr val="ABB8CA"/>
                </a:solidFill>
                <a:latin typeface="Aptos"/>
              </a:rPr>
              <a:t>Explainable alerts • human review • 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ABB8CA"/>
                </a:solidFill>
                <a:latin typeface="Aptos"/>
              </a:rPr>
              <a:t>MATHNOVA 2026  •  MEDISOVEREIGN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55664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ABB8CA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DD3FF"/>
                </a:solidFill>
                <a:latin typeface="Aptos"/>
              </a:rPr>
              <a:t>06 • SECURITY &amp; AUDITABILITY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We secure the data — and prove what happened.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ABB8CA"/>
                </a:solidFill>
                <a:latin typeface="Aptos"/>
              </a:rPr>
              <a:t>Medical records stay off-chain; cryptographic proofs and audit hashes establish integrity.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12080" cy="3611880"/>
          </a:xfrm>
          <a:prstGeom prst="roundRect">
            <a:avLst/>
          </a:prstGeom>
          <a:solidFill>
            <a:srgbClr val="121B2A"/>
          </a:solidFill>
          <a:ln>
            <a:solidFill>
              <a:srgbClr val="12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44805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2DD3FF"/>
                </a:solidFill>
                <a:latin typeface="Aptos"/>
              </a:rPr>
              <a:t>ENCRYPTED HEALTH VAULT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825496"/>
            <a:ext cx="109728" cy="109728"/>
          </a:xfrm>
          <a:prstGeom prst="ellipse">
            <a:avLst/>
          </a:prstGeom>
          <a:solidFill>
            <a:srgbClr val="2DD3FF"/>
          </a:solidFill>
          <a:ln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416052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Prescriptions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3328415"/>
            <a:ext cx="109728" cy="109728"/>
          </a:xfrm>
          <a:prstGeom prst="ellipse">
            <a:avLst/>
          </a:prstGeom>
          <a:solidFill>
            <a:srgbClr val="2DD3FF"/>
          </a:solidFill>
          <a:ln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246120"/>
            <a:ext cx="416052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Allergies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831335"/>
            <a:ext cx="109728" cy="109728"/>
          </a:xfrm>
          <a:prstGeom prst="ellipse">
            <a:avLst/>
          </a:prstGeom>
          <a:solidFill>
            <a:srgbClr val="2DD3FF"/>
          </a:solidFill>
          <a:ln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749039"/>
            <a:ext cx="416052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Diagnostic reports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334256"/>
            <a:ext cx="109728" cy="109728"/>
          </a:xfrm>
          <a:prstGeom prst="ellipse">
            <a:avLst/>
          </a:prstGeom>
          <a:solidFill>
            <a:srgbClr val="2DD3FF"/>
          </a:solidFill>
          <a:ln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251960"/>
            <a:ext cx="416052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Medical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892040"/>
            <a:ext cx="44805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BB8CA"/>
                </a:solidFill>
                <a:latin typeface="Aptos"/>
              </a:rPr>
              <a:t>Encrypted database • access controlled by signed grants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828800"/>
            <a:ext cx="5303520" cy="3611880"/>
          </a:xfrm>
          <a:prstGeom prst="roundRect">
            <a:avLst/>
          </a:prstGeom>
          <a:solidFill>
            <a:srgbClr val="172336"/>
          </a:solidFill>
          <a:ln>
            <a:solidFill>
              <a:srgbClr val="17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148840"/>
            <a:ext cx="4572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2FD38B"/>
                </a:solidFill>
                <a:latin typeface="Aptos"/>
              </a:rPr>
              <a:t>TAMPER-EVIDENT PROOF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971800"/>
            <a:ext cx="960120" cy="640080"/>
          </a:xfrm>
          <a:prstGeom prst="roundRect">
            <a:avLst/>
          </a:prstGeom>
          <a:solidFill>
            <a:srgbClr val="090E18"/>
          </a:solidFill>
          <a:ln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172968"/>
            <a:ext cx="9601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792" y="3127248"/>
            <a:ext cx="256032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ABB8CA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80" y="2971800"/>
            <a:ext cx="960120" cy="640080"/>
          </a:xfrm>
          <a:prstGeom prst="roundRect">
            <a:avLst/>
          </a:prstGeom>
          <a:solidFill>
            <a:srgbClr val="090E18"/>
          </a:solidFill>
          <a:ln>
            <a:solidFill>
              <a:srgbClr val="47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80" y="3172968"/>
            <a:ext cx="9601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Hash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2" y="3127248"/>
            <a:ext cx="256032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ABB8CA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5400" y="2971800"/>
            <a:ext cx="960120" cy="640080"/>
          </a:xfrm>
          <a:prstGeom prst="roundRect">
            <a:avLst/>
          </a:prstGeom>
          <a:solidFill>
            <a:srgbClr val="090E18"/>
          </a:solidFill>
          <a:ln>
            <a:solidFill>
              <a:srgbClr val="FFC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3172968"/>
            <a:ext cx="9601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57232" y="3127248"/>
            <a:ext cx="256032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ABB8CA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04120" y="2971800"/>
            <a:ext cx="960120" cy="640080"/>
          </a:xfrm>
          <a:prstGeom prst="roundRect">
            <a:avLst/>
          </a:prstGeom>
          <a:solidFill>
            <a:srgbClr val="090E18"/>
          </a:solidFill>
          <a:ln>
            <a:solidFill>
              <a:srgbClr val="2F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04120" y="3172968"/>
            <a:ext cx="9601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160520"/>
            <a:ext cx="457200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ABB8CA"/>
                </a:solidFill>
                <a:latin typeface="Aptos"/>
              </a:rPr>
              <a:t>If a historical audit record changes,
the hash chain breaks and tampering is detectable.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ABB8CA"/>
                </a:solidFill>
                <a:latin typeface="Aptos"/>
              </a:rPr>
              <a:t>MATHNOVA 2026  •  MEDISOVEREIGN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55664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ABB8CA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DD3FF"/>
                </a:solidFill>
                <a:latin typeface="Aptos"/>
              </a:rPr>
              <a:t>07 • 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From request to verified access in seconds.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  <a:solidFill>
            <a:srgbClr val="2DD3FF"/>
          </a:solidFill>
          <a:ln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640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090E18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743200"/>
            <a:ext cx="164592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Hospital
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75688" y="1965960"/>
            <a:ext cx="320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ABB8CA"/>
                </a:solidFill>
                <a:latin typeface="Aptos"/>
              </a:rP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2880360" y="1828800"/>
            <a:ext cx="640080" cy="640080"/>
          </a:xfrm>
          <a:prstGeom prst="ellipse">
            <a:avLst/>
          </a:prstGeom>
          <a:solidFill>
            <a:srgbClr val="476FFF"/>
          </a:solidFill>
          <a:ln>
            <a:solidFill>
              <a:srgbClr val="47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965960"/>
            <a:ext cx="640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090E18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743200"/>
            <a:ext cx="164592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Patient
selects fields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1648" y="1965960"/>
            <a:ext cx="320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ABB8CA"/>
                </a:solidFill>
                <a:latin typeface="Aptos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4846320" y="1828800"/>
            <a:ext cx="640080" cy="640080"/>
          </a:xfrm>
          <a:prstGeom prst="ellipse">
            <a:avLst/>
          </a:prstGeom>
          <a:solidFill>
            <a:srgbClr val="2FD38B"/>
          </a:solidFill>
          <a:ln>
            <a:solidFill>
              <a:srgbClr val="2F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965960"/>
            <a:ext cx="640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090E18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743200"/>
            <a:ext cx="164592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Patient
signs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7608" y="1965960"/>
            <a:ext cx="320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ABB8CA"/>
                </a:solidFill>
                <a:latin typeface="Aptos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6812279" y="1828800"/>
            <a:ext cx="640080" cy="640080"/>
          </a:xfrm>
          <a:prstGeom prst="ellipse">
            <a:avLst/>
          </a:prstGeom>
          <a:solidFill>
            <a:srgbClr val="FFC434"/>
          </a:solidFill>
          <a:ln>
            <a:solidFill>
              <a:srgbClr val="FFC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79" y="1965960"/>
            <a:ext cx="640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090E18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743200"/>
            <a:ext cx="164592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Server
verifies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7" y="1965960"/>
            <a:ext cx="320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ABB8CA"/>
                </a:solidFill>
                <a:latin typeface="Aptos"/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8778240" y="1828800"/>
            <a:ext cx="640080" cy="640080"/>
          </a:xfrm>
          <a:prstGeom prst="ellipse">
            <a:avLst/>
          </a:prstGeom>
          <a:solidFill>
            <a:srgbClr val="2DD3FF"/>
          </a:solidFill>
          <a:ln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965960"/>
            <a:ext cx="640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090E18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2743200"/>
            <a:ext cx="164592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Scoped data
released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9528" y="1965960"/>
            <a:ext cx="320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ABB8CA"/>
                </a:solidFill>
                <a:latin typeface="Aptos"/>
              </a:rP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10744200" y="1828800"/>
            <a:ext cx="640080" cy="640080"/>
          </a:xfrm>
          <a:prstGeom prst="ellipse">
            <a:avLst/>
          </a:prstGeom>
          <a:solidFill>
            <a:srgbClr val="2FD38B"/>
          </a:solidFill>
          <a:ln>
            <a:solidFill>
              <a:srgbClr val="2F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44200" y="1965960"/>
            <a:ext cx="640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090E18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2743200"/>
            <a:ext cx="164592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Everything
logged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251960"/>
            <a:ext cx="10241280" cy="914400"/>
          </a:xfrm>
          <a:prstGeom prst="roundRect">
            <a:avLst/>
          </a:prstGeom>
          <a:solidFill>
            <a:srgbClr val="121B2A"/>
          </a:solidFill>
          <a:ln>
            <a:solidFill>
              <a:srgbClr val="12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553712"/>
            <a:ext cx="9784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PATIENT SIGNATURE  →  VERIFIED SCOPE  →  TIME-LIMITED ACCESS  →  AUDIT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ABB8CA"/>
                </a:solidFill>
                <a:latin typeface="Aptos"/>
              </a:rPr>
              <a:t>MATHNOVA 2026  •  MEDISOVEREIGN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55664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ABB8CA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DD3FF"/>
                </a:solidFill>
                <a:latin typeface="Aptos"/>
              </a:rPr>
              <a:t>08 • 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Secure by design, practical to prototype in one 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ABB8CA"/>
                </a:solidFill>
                <a:latin typeface="Aptos"/>
              </a:rPr>
              <a:t>A modular architecture lets us demonstrate the high-value path without overbuilding.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83080"/>
            <a:ext cx="10332720" cy="640080"/>
          </a:xfrm>
          <a:prstGeom prst="roundRect">
            <a:avLst/>
          </a:prstGeom>
          <a:solidFill>
            <a:srgbClr val="121B2A"/>
          </a:solidFill>
          <a:ln>
            <a:solidFill>
              <a:srgbClr val="12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783080"/>
            <a:ext cx="164592" cy="640080"/>
          </a:xfrm>
          <a:prstGeom prst="rect">
            <a:avLst/>
          </a:prstGeom>
          <a:solidFill>
            <a:srgbClr val="2DD3FF"/>
          </a:solidFill>
          <a:ln>
            <a:solidFill>
              <a:srgbClr val="2D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929384"/>
            <a:ext cx="1920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929384"/>
            <a:ext cx="7223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ABB8CA"/>
                </a:solidFill>
                <a:latin typeface="Aptos"/>
              </a:rPr>
              <a:t>Next.js • TypeScript • Tailwind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06040"/>
            <a:ext cx="10332720" cy="640080"/>
          </a:xfrm>
          <a:prstGeom prst="roundRect">
            <a:avLst/>
          </a:prstGeom>
          <a:solidFill>
            <a:srgbClr val="121B2A"/>
          </a:solidFill>
          <a:ln>
            <a:solidFill>
              <a:srgbClr val="12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606040"/>
            <a:ext cx="164592" cy="640080"/>
          </a:xfrm>
          <a:prstGeom prst="rect">
            <a:avLst/>
          </a:prstGeom>
          <a:solidFill>
            <a:srgbClr val="476FFF"/>
          </a:solidFill>
          <a:ln>
            <a:solidFill>
              <a:srgbClr val="47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752344"/>
            <a:ext cx="1920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API / 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752344"/>
            <a:ext cx="7223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ABB8CA"/>
                </a:solidFill>
                <a:latin typeface="Aptos"/>
              </a:rPr>
              <a:t>FastAPI • JWT • RBAC • Consent verification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429000"/>
            <a:ext cx="10332720" cy="640080"/>
          </a:xfrm>
          <a:prstGeom prst="roundRect">
            <a:avLst/>
          </a:prstGeom>
          <a:solidFill>
            <a:srgbClr val="121B2A"/>
          </a:solidFill>
          <a:ln>
            <a:solidFill>
              <a:srgbClr val="12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429000"/>
            <a:ext cx="164592" cy="640080"/>
          </a:xfrm>
          <a:prstGeom prst="rect">
            <a:avLst/>
          </a:prstGeom>
          <a:solidFill>
            <a:srgbClr val="2FD38B"/>
          </a:solidFill>
          <a:ln>
            <a:solidFill>
              <a:srgbClr val="2F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575304"/>
            <a:ext cx="1920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575304"/>
            <a:ext cx="7223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ABB8CA"/>
                </a:solidFill>
                <a:latin typeface="Aptos"/>
              </a:rPr>
              <a:t>ECDSA • SHA-256 • AES-GCM • key management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51960"/>
            <a:ext cx="10332720" cy="640080"/>
          </a:xfrm>
          <a:prstGeom prst="roundRect">
            <a:avLst/>
          </a:prstGeom>
          <a:solidFill>
            <a:srgbClr val="121B2A"/>
          </a:solidFill>
          <a:ln>
            <a:solidFill>
              <a:srgbClr val="12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251960"/>
            <a:ext cx="164592" cy="640080"/>
          </a:xfrm>
          <a:prstGeom prst="rect">
            <a:avLst/>
          </a:prstGeom>
          <a:solidFill>
            <a:srgbClr val="FFC434"/>
          </a:solidFill>
          <a:ln>
            <a:solidFill>
              <a:srgbClr val="FFC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4398264"/>
            <a:ext cx="1920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398264"/>
            <a:ext cx="7223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ABB8CA"/>
                </a:solidFill>
                <a:latin typeface="Aptos"/>
              </a:rPr>
              <a:t>Python rules • risk scoring • explainable alerts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074920"/>
            <a:ext cx="10332720" cy="640080"/>
          </a:xfrm>
          <a:prstGeom prst="roundRect">
            <a:avLst/>
          </a:prstGeom>
          <a:solidFill>
            <a:srgbClr val="121B2A"/>
          </a:solidFill>
          <a:ln>
            <a:solidFill>
              <a:srgbClr val="12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5074920"/>
            <a:ext cx="164592" cy="640080"/>
          </a:xfrm>
          <a:prstGeom prst="rect">
            <a:avLst/>
          </a:prstGeom>
          <a:solidFill>
            <a:srgbClr val="FF5C5C"/>
          </a:solidFill>
          <a:ln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5221224"/>
            <a:ext cx="1920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5221224"/>
            <a:ext cx="7223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ABB8CA"/>
                </a:solidFill>
                <a:latin typeface="Aptos"/>
              </a:rPr>
              <a:t>PostgreSQL • encrypted health vault • audit ledger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2DD3FF"/>
                </a:solidFill>
                <a:latin typeface="Aptos"/>
              </a:rPr>
              <a:t>Optional proof layer: smart contract stores hashes / authorization proofs — never raw medical data.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ABB8CA"/>
                </a:solidFill>
                <a:latin typeface="Aptos"/>
              </a:rPr>
              <a:t>MATHNOVA 2026  •  MEDISOVEREIGN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55664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ABB8CA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DD3FF"/>
                </a:solidFill>
                <a:latin typeface="Aptos"/>
              </a:rPr>
              <a:t>09 • IMPACT &amp;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Why this can matter beyond the hackathon.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5166360" cy="1463040"/>
          </a:xfrm>
          <a:prstGeom prst="roundRect">
            <a:avLst/>
          </a:prstGeom>
          <a:solidFill>
            <a:srgbClr val="121B2A"/>
          </a:solidFill>
          <a:ln>
            <a:solidFill>
              <a:srgbClr val="12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554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2DD3FF"/>
                </a:solidFill>
                <a:latin typeface="Aptos"/>
              </a:rPr>
              <a:t>PATIENTS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52628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Control access to their records
and reduce unnecessary exposure.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74519"/>
            <a:ext cx="5166360" cy="1463040"/>
          </a:xfrm>
          <a:prstGeom prst="roundRect">
            <a:avLst/>
          </a:prstGeom>
          <a:solidFill>
            <a:srgbClr val="121B2A"/>
          </a:solidFill>
          <a:ln>
            <a:solidFill>
              <a:srgbClr val="12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103120"/>
            <a:ext cx="1554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2FD38B"/>
                </a:solidFill>
                <a:latin typeface="Aptos"/>
              </a:rPr>
              <a:t>PROVIDERS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60320"/>
            <a:ext cx="452628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Get trustworthy, purpose-specific
information when it is needed.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03320"/>
            <a:ext cx="5166360" cy="1463040"/>
          </a:xfrm>
          <a:prstGeom prst="roundRect">
            <a:avLst/>
          </a:prstGeom>
          <a:solidFill>
            <a:srgbClr val="121B2A"/>
          </a:solidFill>
          <a:ln>
            <a:solidFill>
              <a:srgbClr val="12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1554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FC434"/>
                </a:solidFill>
                <a:latin typeface="Aptos"/>
              </a:rPr>
              <a:t>PHARMACIES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452628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Verify prescription context and
surface safety warnings.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703320"/>
            <a:ext cx="5166360" cy="1463040"/>
          </a:xfrm>
          <a:prstGeom prst="roundRect">
            <a:avLst/>
          </a:prstGeom>
          <a:solidFill>
            <a:srgbClr val="121B2A"/>
          </a:solidFill>
          <a:ln>
            <a:solidFill>
              <a:srgbClr val="12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931920"/>
            <a:ext cx="1554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476FFF"/>
                </a:solidFill>
                <a:latin typeface="Aptos"/>
              </a:rPr>
              <a:t>INSURERS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389120"/>
            <a:ext cx="452628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Receive scoped claims data and
identify suspicious patterns.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Practical MVP: patient vault + signed consent + scoped access + safety engine + audit proof.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ABB8CA"/>
                </a:solidFill>
                <a:latin typeface="Aptos"/>
              </a:rPr>
              <a:t>MATHNOVA 2026  •  MEDISOVEREIGN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55664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ABB8C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2DD3FF"/>
                </a:solidFill>
                <a:latin typeface="Aptos"/>
              </a:rPr>
              <a:t>10 •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Healthcare should work for the patient — not around the patient.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ABB8CA"/>
                </a:solidFill>
                <a:latin typeface="Aptos"/>
              </a:rPr>
              <a:t>MediSovereign turns medical data sharing into a patient-controlled, verifiable transaction.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21945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ABB8CA"/>
                </a:solidFill>
                <a:latin typeface="Aptos"/>
              </a:rPr>
              <a:t>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057400"/>
            <a:ext cx="457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2DD3FF"/>
                </a:solidFill>
                <a:latin typeface="Aptos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057400"/>
            <a:ext cx="21945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2DD3FF"/>
                </a:solidFill>
                <a:latin typeface="Aptos"/>
              </a:rPr>
              <a:t>CONSENT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057400"/>
            <a:ext cx="457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2DD3FF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57400"/>
            <a:ext cx="21945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2FD38B"/>
                </a:solidFill>
                <a:latin typeface="Aptos"/>
              </a:rPr>
              <a:t>VERIFY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057400"/>
            <a:ext cx="457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2DD3FF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057400"/>
            <a:ext cx="21945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2FD38B"/>
                </a:solidFill>
                <a:latin typeface="Aptos"/>
              </a:rPr>
              <a:t>SAFE EXCHANGE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2971800"/>
            <a:ext cx="10058400" cy="1508760"/>
          </a:xfrm>
          <a:prstGeom prst="roundRect">
            <a:avLst/>
          </a:prstGeom>
          <a:solidFill>
            <a:srgbClr val="172336"/>
          </a:solidFill>
          <a:ln>
            <a:solidFill>
              <a:srgbClr val="17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310128"/>
            <a:ext cx="941832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800" b="1">
                <a:solidFill>
                  <a:srgbClr val="F5F8FC"/>
                </a:solidFill>
                <a:latin typeface="Aptos"/>
              </a:rPr>
              <a:t>“Your medical data.
Your permission. Your signature.”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257800"/>
            <a:ext cx="99669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2DD3FF"/>
                </a:solidFill>
                <a:latin typeface="Aptos"/>
              </a:rPr>
              <a:t>MEDISOVEREIGN  •  PATIENT-SOVEREIGN PRESCRIPTION INTELLIGENCE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806440"/>
            <a:ext cx="53949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ABB8CA"/>
                </a:solidFill>
                <a:latin typeface="Aptos"/>
              </a:rPr>
              <a:t>Thank you  |  Questions?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45720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ABB8CA"/>
                </a:solidFill>
                <a:latin typeface="Aptos"/>
              </a:rPr>
              <a:t>MATHNOVA 2026  •  MEDISOVEREIGN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55664"/>
            <a:ext cx="365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00" b="1">
                <a:solidFill>
                  <a:srgbClr val="ABB8CA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